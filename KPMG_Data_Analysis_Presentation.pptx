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1" r:id="rId11"/>
    <p:sldId id="266" r:id="rId12"/>
    <p:sldId id="268" r:id="rId13"/>
    <p:sldId id="269" r:id="rId14"/>
    <p:sldId id="270" r:id="rId15"/>
    <p:sldId id="267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E727603-99DE-4A49-86AB-4057D342030B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  <p14:sldId id="271"/>
            <p14:sldId id="266"/>
            <p14:sldId id="268"/>
            <p14:sldId id="269"/>
            <p14:sldId id="270"/>
            <p14:sldId id="267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excel%20project\KPMG(Task%20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excel%20project\KPMG(Task%203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excel%20project\KPMG(Task%204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excel%20project\KPMG(Task%205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[KPMG(Task 2).xlsx]wealth_seg!PivotTable1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 Segments</a:t>
            </a:r>
            <a:r>
              <a:rPr lang="en-IN" baseline="0"/>
              <a:t> by Count &amp;</a:t>
            </a:r>
            <a:r>
              <a:rPr lang="en-IN"/>
              <a:t> Average Tenure</a:t>
            </a:r>
          </a:p>
        </c:rich>
      </c:tx>
      <c:layout>
        <c:manualLayout>
          <c:xMode val="edge"/>
          <c:yMode val="edge"/>
          <c:x val="0.15753305797155703"/>
          <c:y val="3.96039603960396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5.9590304923277521E-2"/>
              <c:y val="-7.89430224255026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4829293718033195E-3"/>
              <c:y val="-8.988760510479809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1130480718436345E-3"/>
              <c:y val="-3.96039603960395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5.9590304923277521E-2"/>
              <c:y val="-7.89430224255026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1130480718436345E-3"/>
              <c:y val="-3.96039603960395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4829293718033195E-3"/>
              <c:y val="-8.988760510479809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5.9590304923277521E-2"/>
              <c:y val="-7.894302242550264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1130480718436345E-3"/>
              <c:y val="-3.96039603960395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2"/>
            </a:solidFill>
            <a:round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layout>
            <c:manualLayout>
              <c:x val="-2.4829293718033195E-3"/>
              <c:y val="-8.988760510479809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21579823442216E-2"/>
          <c:y val="0.1924094124826595"/>
          <c:w val="0.62883021181538101"/>
          <c:h val="0.69174410264960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wealth_seg!$B$3</c:f>
              <c:strCache>
                <c:ptCount val="1"/>
                <c:pt idx="0">
                  <c:v>Customer 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wealth_seg!$A$4:$A$7</c:f>
              <c:strCache>
                <c:ptCount val="3"/>
                <c:pt idx="0">
                  <c:v>Mass Customer</c:v>
                </c:pt>
                <c:pt idx="1">
                  <c:v>High Net Worth</c:v>
                </c:pt>
                <c:pt idx="2">
                  <c:v>Affluent Customer</c:v>
                </c:pt>
              </c:strCache>
            </c:strRef>
          </c:cat>
          <c:val>
            <c:numRef>
              <c:f>wealth_seg!$B$4:$B$7</c:f>
              <c:numCache>
                <c:formatCode>General</c:formatCode>
                <c:ptCount val="3"/>
                <c:pt idx="0">
                  <c:v>2000</c:v>
                </c:pt>
                <c:pt idx="1">
                  <c:v>1021</c:v>
                </c:pt>
                <c:pt idx="2">
                  <c:v>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41-4582-9315-1BA219343438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885824"/>
        <c:axId val="48886240"/>
      </c:barChart>
      <c:lineChart>
        <c:grouping val="standard"/>
        <c:varyColors val="0"/>
        <c:ser>
          <c:idx val="1"/>
          <c:order val="1"/>
          <c:tx>
            <c:strRef>
              <c:f>wealth_seg!$C$3</c:f>
              <c:strCache>
                <c:ptCount val="1"/>
                <c:pt idx="0">
                  <c:v>Average Tenure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gradFill rotWithShape="1">
                  <a:gsLst>
                    <a:gs pos="0">
                      <a:schemeClr val="accent2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2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2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12700">
                  <a:solidFill>
                    <a:schemeClr val="lt2"/>
                  </a:solidFill>
                  <a:round/>
                </a:ln>
                <a:effectLst/>
              </c:spPr>
            </c:marker>
            <c:bubble3D val="0"/>
            <c:spPr>
              <a:ln w="317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6F41-4582-9315-1BA219343438}"/>
              </c:ext>
            </c:extLst>
          </c:dPt>
          <c:dPt>
            <c:idx val="1"/>
            <c:marker>
              <c:symbol val="circle"/>
              <c:size val="6"/>
              <c:spPr>
                <a:gradFill rotWithShape="1">
                  <a:gsLst>
                    <a:gs pos="0">
                      <a:schemeClr val="accent2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2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2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12700">
                  <a:solidFill>
                    <a:schemeClr val="lt2"/>
                  </a:solidFill>
                  <a:round/>
                </a:ln>
                <a:effectLst/>
              </c:spPr>
            </c:marker>
            <c:bubble3D val="0"/>
            <c:spPr>
              <a:ln w="317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6F41-4582-9315-1BA219343438}"/>
              </c:ext>
            </c:extLst>
          </c:dPt>
          <c:dPt>
            <c:idx val="2"/>
            <c:marker>
              <c:symbol val="circle"/>
              <c:size val="6"/>
              <c:spPr>
                <a:gradFill rotWithShape="1">
                  <a:gsLst>
                    <a:gs pos="0">
                      <a:schemeClr val="accent2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2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2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12700">
                  <a:solidFill>
                    <a:schemeClr val="lt2"/>
                  </a:solidFill>
                  <a:round/>
                </a:ln>
                <a:effectLst/>
              </c:spPr>
            </c:marker>
            <c:bubble3D val="0"/>
            <c:spPr>
              <a:ln w="317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6F41-4582-9315-1BA219343438}"/>
              </c:ext>
            </c:extLst>
          </c:dPt>
          <c:dLbls>
            <c:dLbl>
              <c:idx val="0"/>
              <c:layout>
                <c:manualLayout>
                  <c:x val="-5.9590304923277521E-2"/>
                  <c:y val="-7.89430224255026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41-4582-9315-1BA219343438}"/>
                </c:ext>
              </c:extLst>
            </c:dLbl>
            <c:dLbl>
              <c:idx val="1"/>
              <c:layout>
                <c:manualLayout>
                  <c:x val="-2.1130480718436345E-3"/>
                  <c:y val="-3.96039603960395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41-4582-9315-1BA219343438}"/>
                </c:ext>
              </c:extLst>
            </c:dLbl>
            <c:dLbl>
              <c:idx val="2"/>
              <c:layout>
                <c:manualLayout>
                  <c:x val="-2.4829293718033195E-3"/>
                  <c:y val="-8.98876051047980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F41-4582-9315-1BA2193434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wealth_seg!$A$4:$A$7</c:f>
              <c:strCache>
                <c:ptCount val="3"/>
                <c:pt idx="0">
                  <c:v>Mass Customer</c:v>
                </c:pt>
                <c:pt idx="1">
                  <c:v>High Net Worth</c:v>
                </c:pt>
                <c:pt idx="2">
                  <c:v>Affluent Customer</c:v>
                </c:pt>
              </c:strCache>
            </c:strRef>
          </c:cat>
          <c:val>
            <c:numRef>
              <c:f>wealth_seg!$C$4:$C$7</c:f>
              <c:numCache>
                <c:formatCode>0.00</c:formatCode>
                <c:ptCount val="3"/>
                <c:pt idx="0">
                  <c:v>10.4375</c:v>
                </c:pt>
                <c:pt idx="1">
                  <c:v>10.479921645445641</c:v>
                </c:pt>
                <c:pt idx="2">
                  <c:v>10.34320735444331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F41-4582-9315-1BA2193434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889984"/>
        <c:axId val="48892064"/>
      </c:lineChart>
      <c:catAx>
        <c:axId val="4888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86240"/>
        <c:crosses val="autoZero"/>
        <c:auto val="1"/>
        <c:lblAlgn val="ctr"/>
        <c:lblOffset val="100"/>
        <c:noMultiLvlLbl val="0"/>
      </c:catAx>
      <c:valAx>
        <c:axId val="4888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85824"/>
        <c:crosses val="autoZero"/>
        <c:crossBetween val="between"/>
      </c:valAx>
      <c:valAx>
        <c:axId val="48892064"/>
        <c:scaling>
          <c:orientation val="minMax"/>
        </c:scaling>
        <c:delete val="0"/>
        <c:axPos val="r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89984"/>
        <c:crosses val="max"/>
        <c:crossBetween val="between"/>
      </c:valAx>
      <c:catAx>
        <c:axId val="48889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2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017286662602738"/>
          <c:y val="0.39707790573676383"/>
          <c:w val="0.18492955714315321"/>
          <c:h val="0.42821574283494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[KPMG(Task 3).xlsx]Sales_trend_analysis!PivotTable1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Monthly Sales &amp; Profit Trend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Sales_trend_analysis!$B$1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Sales_trend_analysis!$A$2:$A$14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Sales_trend_analysis!$B$2:$B$14</c:f>
              <c:numCache>
                <c:formatCode>[$$-409]#,##0</c:formatCode>
                <c:ptCount val="12"/>
                <c:pt idx="0">
                  <c:v>1866059.2599999928</c:v>
                </c:pt>
                <c:pt idx="1">
                  <c:v>1798445.8299999915</c:v>
                </c:pt>
                <c:pt idx="2">
                  <c:v>1817617.499999993</c:v>
                </c:pt>
                <c:pt idx="3">
                  <c:v>1843009.1799999955</c:v>
                </c:pt>
                <c:pt idx="4">
                  <c:v>1908723.0399999891</c:v>
                </c:pt>
                <c:pt idx="5">
                  <c:v>1755400.3099999924</c:v>
                </c:pt>
                <c:pt idx="6">
                  <c:v>1892999.669999989</c:v>
                </c:pt>
                <c:pt idx="7">
                  <c:v>1933992.349999991</c:v>
                </c:pt>
                <c:pt idx="8">
                  <c:v>1744175.5299999898</c:v>
                </c:pt>
                <c:pt idx="9">
                  <c:v>1962655.7699999881</c:v>
                </c:pt>
                <c:pt idx="10">
                  <c:v>1821645.3199999945</c:v>
                </c:pt>
                <c:pt idx="11">
                  <c:v>1811865.2199999928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17-490A-8BF5-77ABF1F4FE45}"/>
            </c:ext>
          </c:extLst>
        </c:ser>
        <c:ser>
          <c:idx val="2"/>
          <c:order val="2"/>
          <c:tx>
            <c:strRef>
              <c:f>Sales_trend_analysis!$D$1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Sales_trend_analysis!$A$2:$A$14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Sales_trend_analysis!$D$2:$D$14</c:f>
              <c:numCache>
                <c:formatCode>[$$-409]#,##0</c:formatCode>
                <c:ptCount val="12"/>
                <c:pt idx="0">
                  <c:v>945447.13999999955</c:v>
                </c:pt>
                <c:pt idx="1">
                  <c:v>885224.70000000054</c:v>
                </c:pt>
                <c:pt idx="2">
                  <c:v>910043.97999999986</c:v>
                </c:pt>
                <c:pt idx="3">
                  <c:v>921210.47</c:v>
                </c:pt>
                <c:pt idx="4">
                  <c:v>931581.35000000149</c:v>
                </c:pt>
                <c:pt idx="5">
                  <c:v>874749.1</c:v>
                </c:pt>
                <c:pt idx="6">
                  <c:v>959661.3000000004</c:v>
                </c:pt>
                <c:pt idx="7">
                  <c:v>986701.19999999984</c:v>
                </c:pt>
                <c:pt idx="8">
                  <c:v>875262.18000000308</c:v>
                </c:pt>
                <c:pt idx="9">
                  <c:v>1004375.4550000001</c:v>
                </c:pt>
                <c:pt idx="10">
                  <c:v>944829.86999999965</c:v>
                </c:pt>
                <c:pt idx="11">
                  <c:v>906104.46000000217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17-490A-8BF5-77ABF1F4F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8677632"/>
        <c:axId val="1828688864"/>
      </c:barChart>
      <c:lineChart>
        <c:grouping val="standard"/>
        <c:varyColors val="0"/>
        <c:ser>
          <c:idx val="1"/>
          <c:order val="1"/>
          <c:tx>
            <c:strRef>
              <c:f>Sales_trend_analysis!$C$1</c:f>
              <c:strCache>
                <c:ptCount val="1"/>
                <c:pt idx="0">
                  <c:v>Sales in %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Sales_trend_analysis!$A$2:$A$14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Sales_trend_analysis!$C$2:$C$14</c:f>
              <c:numCache>
                <c:formatCode>0.00%</c:formatCode>
                <c:ptCount val="12"/>
                <c:pt idx="0">
                  <c:v>8.4221414301832734E-2</c:v>
                </c:pt>
                <c:pt idx="1">
                  <c:v>8.1169797012680775E-2</c:v>
                </c:pt>
                <c:pt idx="2">
                  <c:v>8.2035077765837655E-2</c:v>
                </c:pt>
                <c:pt idx="3">
                  <c:v>8.3181088102668957E-2</c:v>
                </c:pt>
                <c:pt idx="4">
                  <c:v>8.6146971527202923E-2</c:v>
                </c:pt>
                <c:pt idx="5">
                  <c:v>7.9227010600979281E-2</c:v>
                </c:pt>
                <c:pt idx="6">
                  <c:v>8.5437323935951714E-2</c:v>
                </c:pt>
                <c:pt idx="7">
                  <c:v>8.7287458901988441E-2</c:v>
                </c:pt>
                <c:pt idx="8">
                  <c:v>7.8720399226361329E-2</c:v>
                </c:pt>
                <c:pt idx="9">
                  <c:v>8.8581133665097095E-2</c:v>
                </c:pt>
                <c:pt idx="10">
                  <c:v>8.2216866578350145E-2</c:v>
                </c:pt>
                <c:pt idx="11">
                  <c:v>8.1775458381049104E-2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17-490A-8BF5-77ABF1F4F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8675968"/>
        <c:axId val="1828687616"/>
      </c:lineChart>
      <c:catAx>
        <c:axId val="182867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688864"/>
        <c:crosses val="autoZero"/>
        <c:auto val="1"/>
        <c:lblAlgn val="ctr"/>
        <c:lblOffset val="100"/>
        <c:noMultiLvlLbl val="0"/>
      </c:catAx>
      <c:valAx>
        <c:axId val="1828688864"/>
        <c:scaling>
          <c:orientation val="minMax"/>
        </c:scaling>
        <c:delete val="0"/>
        <c:axPos val="l"/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677632"/>
        <c:crosses val="autoZero"/>
        <c:crossBetween val="between"/>
      </c:valAx>
      <c:valAx>
        <c:axId val="182868761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675968"/>
        <c:crosses val="max"/>
        <c:crossBetween val="between"/>
      </c:valAx>
      <c:catAx>
        <c:axId val="1828675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286876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[KPMG(Task 4).xlsx]New_customer_location_analysis!PivotTable2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State-wise Customer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New_customer_location_analysis!$B$11:$B$12</c:f>
              <c:strCache>
                <c:ptCount val="1"/>
                <c:pt idx="0">
                  <c:v>Affluent Customer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New_customer_location_analysis!$A$13:$A$16</c:f>
              <c:strCache>
                <c:ptCount val="3"/>
                <c:pt idx="0">
                  <c:v>NSW</c:v>
                </c:pt>
                <c:pt idx="1">
                  <c:v>QLD</c:v>
                </c:pt>
                <c:pt idx="2">
                  <c:v>VIC</c:v>
                </c:pt>
              </c:strCache>
            </c:strRef>
          </c:cat>
          <c:val>
            <c:numRef>
              <c:f>New_customer_location_analysis!$B$13:$B$16</c:f>
              <c:numCache>
                <c:formatCode>General</c:formatCode>
                <c:ptCount val="3"/>
                <c:pt idx="0">
                  <c:v>117</c:v>
                </c:pt>
                <c:pt idx="1">
                  <c:v>54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06-44F7-B244-8D096678AE08}"/>
            </c:ext>
          </c:extLst>
        </c:ser>
        <c:ser>
          <c:idx val="1"/>
          <c:order val="1"/>
          <c:tx>
            <c:strRef>
              <c:f>New_customer_location_analysis!$C$11:$C$12</c:f>
              <c:strCache>
                <c:ptCount val="1"/>
                <c:pt idx="0">
                  <c:v>High Net Worth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New_customer_location_analysis!$A$13:$A$16</c:f>
              <c:strCache>
                <c:ptCount val="3"/>
                <c:pt idx="0">
                  <c:v>NSW</c:v>
                </c:pt>
                <c:pt idx="1">
                  <c:v>QLD</c:v>
                </c:pt>
                <c:pt idx="2">
                  <c:v>VIC</c:v>
                </c:pt>
              </c:strCache>
            </c:strRef>
          </c:cat>
          <c:val>
            <c:numRef>
              <c:f>New_customer_location_analysis!$C$13:$C$16</c:f>
              <c:numCache>
                <c:formatCode>General</c:formatCode>
                <c:ptCount val="3"/>
                <c:pt idx="0">
                  <c:v>128</c:v>
                </c:pt>
                <c:pt idx="1">
                  <c:v>52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06-44F7-B244-8D096678AE08}"/>
            </c:ext>
          </c:extLst>
        </c:ser>
        <c:ser>
          <c:idx val="2"/>
          <c:order val="2"/>
          <c:tx>
            <c:strRef>
              <c:f>New_customer_location_analysis!$D$11:$D$12</c:f>
              <c:strCache>
                <c:ptCount val="1"/>
                <c:pt idx="0">
                  <c:v>Mass Customer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New_customer_location_analysis!$A$13:$A$16</c:f>
              <c:strCache>
                <c:ptCount val="3"/>
                <c:pt idx="0">
                  <c:v>NSW</c:v>
                </c:pt>
                <c:pt idx="1">
                  <c:v>QLD</c:v>
                </c:pt>
                <c:pt idx="2">
                  <c:v>VIC</c:v>
                </c:pt>
              </c:strCache>
            </c:strRef>
          </c:cat>
          <c:val>
            <c:numRef>
              <c:f>New_customer_location_analysis!$D$13:$D$16</c:f>
              <c:numCache>
                <c:formatCode>General</c:formatCode>
                <c:ptCount val="3"/>
                <c:pt idx="0">
                  <c:v>261</c:v>
                </c:pt>
                <c:pt idx="1">
                  <c:v>122</c:v>
                </c:pt>
                <c:pt idx="2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06-44F7-B244-8D096678AE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69306416"/>
        <c:axId val="569305584"/>
      </c:barChart>
      <c:catAx>
        <c:axId val="56930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305584"/>
        <c:crosses val="autoZero"/>
        <c:auto val="1"/>
        <c:lblAlgn val="ctr"/>
        <c:lblOffset val="100"/>
        <c:noMultiLvlLbl val="0"/>
      </c:catAx>
      <c:valAx>
        <c:axId val="569305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306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[KPMG(Task 5).xlsx]CLV__analysis!PivotTable2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Customer Lifetime Value by Industry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CLV__analysis!$B$7</c:f>
              <c:strCache>
                <c:ptCount val="1"/>
                <c:pt idx="0">
                  <c:v>Sum of CLV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CLV__analysis!$A$8:$A$17</c:f>
              <c:strCache>
                <c:ptCount val="9"/>
                <c:pt idx="0">
                  <c:v>Telecommunications</c:v>
                </c:pt>
                <c:pt idx="1">
                  <c:v>Argiculture</c:v>
                </c:pt>
                <c:pt idx="2">
                  <c:v>IT</c:v>
                </c:pt>
                <c:pt idx="3">
                  <c:v>Entertainment</c:v>
                </c:pt>
                <c:pt idx="4">
                  <c:v>Property</c:v>
                </c:pt>
                <c:pt idx="5">
                  <c:v>Retail</c:v>
                </c:pt>
                <c:pt idx="6">
                  <c:v>Health</c:v>
                </c:pt>
                <c:pt idx="7">
                  <c:v>Financial Services</c:v>
                </c:pt>
                <c:pt idx="8">
                  <c:v>Manufacturing</c:v>
                </c:pt>
              </c:strCache>
            </c:strRef>
          </c:cat>
          <c:val>
            <c:numRef>
              <c:f>CLV__analysis!$B$8:$B$17</c:f>
              <c:numCache>
                <c:formatCode>[$$-409]#,##0</c:formatCode>
                <c:ptCount val="9"/>
                <c:pt idx="0">
                  <c:v>4596294</c:v>
                </c:pt>
                <c:pt idx="1">
                  <c:v>6275140</c:v>
                </c:pt>
                <c:pt idx="2">
                  <c:v>8538335</c:v>
                </c:pt>
                <c:pt idx="3">
                  <c:v>8666320</c:v>
                </c:pt>
                <c:pt idx="4">
                  <c:v>16372545</c:v>
                </c:pt>
                <c:pt idx="5">
                  <c:v>20523437</c:v>
                </c:pt>
                <c:pt idx="6">
                  <c:v>35913499</c:v>
                </c:pt>
                <c:pt idx="7">
                  <c:v>43784063</c:v>
                </c:pt>
                <c:pt idx="8">
                  <c:v>45969343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3-40A1-B5B8-7B1E3CCBFC8E}"/>
            </c:ext>
          </c:extLst>
        </c:ser>
        <c:ser>
          <c:idx val="1"/>
          <c:order val="1"/>
          <c:tx>
            <c:strRef>
              <c:f>CLV__analysis!$C$7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CLV__analysis!$A$8:$A$17</c:f>
              <c:strCache>
                <c:ptCount val="9"/>
                <c:pt idx="0">
                  <c:v>Telecommunications</c:v>
                </c:pt>
                <c:pt idx="1">
                  <c:v>Argiculture</c:v>
                </c:pt>
                <c:pt idx="2">
                  <c:v>IT</c:v>
                </c:pt>
                <c:pt idx="3">
                  <c:v>Entertainment</c:v>
                </c:pt>
                <c:pt idx="4">
                  <c:v>Property</c:v>
                </c:pt>
                <c:pt idx="5">
                  <c:v>Retail</c:v>
                </c:pt>
                <c:pt idx="6">
                  <c:v>Health</c:v>
                </c:pt>
                <c:pt idx="7">
                  <c:v>Financial Services</c:v>
                </c:pt>
                <c:pt idx="8">
                  <c:v>Manufacturing</c:v>
                </c:pt>
              </c:strCache>
            </c:strRef>
          </c:cat>
          <c:val>
            <c:numRef>
              <c:f>CLV__analysis!$C$8:$C$17</c:f>
              <c:numCache>
                <c:formatCode>0%</c:formatCode>
                <c:ptCount val="9"/>
                <c:pt idx="0">
                  <c:v>2.410993856786138E-2</c:v>
                </c:pt>
                <c:pt idx="1">
                  <c:v>3.291635389396972E-2</c:v>
                </c:pt>
                <c:pt idx="2">
                  <c:v>4.4787981865785934E-2</c:v>
                </c:pt>
                <c:pt idx="3">
                  <c:v>4.5459329366099824E-2</c:v>
                </c:pt>
                <c:pt idx="4">
                  <c:v>8.5882464035056505E-2</c:v>
                </c:pt>
                <c:pt idx="5">
                  <c:v>0.10765603881548336</c:v>
                </c:pt>
                <c:pt idx="6">
                  <c:v>0.18838487151756417</c:v>
                </c:pt>
                <c:pt idx="7">
                  <c:v>0.22967004921386067</c:v>
                </c:pt>
                <c:pt idx="8">
                  <c:v>0.24113297272431844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B3-40A1-B5B8-7B1E3CCBFC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2779728"/>
        <c:axId val="62790960"/>
      </c:barChart>
      <c:catAx>
        <c:axId val="627797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790960"/>
        <c:crosses val="autoZero"/>
        <c:auto val="1"/>
        <c:lblAlgn val="ctr"/>
        <c:lblOffset val="100"/>
        <c:noMultiLvlLbl val="0"/>
      </c:catAx>
      <c:valAx>
        <c:axId val="62790960"/>
        <c:scaling>
          <c:orientation val="minMax"/>
        </c:scaling>
        <c:delete val="0"/>
        <c:axPos val="b"/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779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DA45-34A4-4DFF-8224-65AA7F350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C755F-F526-4FDA-B008-4D946B3BE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0096-4B5B-4616-8CD0-D435D5B8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ADEA7-6E64-4E24-A31E-41E8DA8D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A6E7-D75B-4D80-AADE-09C497CF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5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DC82-D3EB-4607-9A0F-D9B720E9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BE38-AC6A-4903-8FFD-D06CA1F46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7C0D8-4687-4B7E-9172-99D3606E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105B9-F44D-4D85-94EC-081C922B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2DFDB-19E8-4759-B2C1-B69F1166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7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1645-BDE7-4A13-B783-3C65AB3C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EC052-540C-4DD5-B5B5-63952FA6F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0CD7A-6565-46C4-B214-E1C229D4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D9CE6-C351-4357-A938-9C0BEC58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3573A-8804-46A7-939E-519383DB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6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8F03-B44B-44C0-8A9B-10361778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88148-665E-49F5-8314-5AA435CAB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C13B1-7377-4B87-9CD5-7543E6091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74186-206B-474A-BC5D-56D7948D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D39BF-14AE-484D-9766-0CF764CC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9AB1A-6EC0-4E1A-98E2-126B464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7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0E0D-373F-49CB-A12D-2800EA8B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9CD08-ECD4-4952-9CED-4CB78093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ADC13-3AAD-4AD1-8D48-3EF41326C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8F894-C92C-4AAB-8FDE-D85773E27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C658E-724D-40FE-9070-FFC332049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3FA90-5702-4A85-A04E-7E4FFD73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CBAD1-E00D-45BB-ABA5-AAE6AC83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646B0-8BDE-443C-B41D-237D6278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2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FE4F-E637-49C6-8225-096359DA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E9139-6BAE-495C-ACFA-A73E9DA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3DB26-947F-4777-998C-F4DDE68E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00262-B7E4-4B2B-8A6A-581EF620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9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D9257-46CD-4C9B-83D1-E762F2CC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3E11-2943-45B2-A805-715D03AB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DDC3F-934F-4428-8D63-7130203E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3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412D-495F-4C44-9DB4-B941CB59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D84DE-FF66-41D1-B6A5-7AD5AA041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ECE3D-7DBB-44EC-BFC8-DDCA39966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E42F8-B314-4C94-B438-475F8B4C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8BED2-E60E-43FE-9A6A-7D982102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40ADC-65D0-448B-AEF4-9D8B5989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8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7CD3-6BBC-4015-9B32-181E69E1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5F8D7-7F09-45CD-AEAC-6FB6CF888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BB654-726B-4710-8A6E-8434AB1AE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809F6-307D-42BE-9E18-F8C53390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02772-0345-48AD-8F1C-BFB992F6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3A5CD-527D-4BBA-869C-7BBEBF74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1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7DB-AEB5-4C3A-AC13-0FD8917B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EB5BF-3FEB-42E4-884C-59641338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41DDB-540C-423E-AD9A-2625BFCD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7BA42-149D-4587-A347-F99B9766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F5A6F-257E-4B4C-861E-7552188E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0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A9E17-AC23-423C-B47E-692D7F669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3B907-69AA-4AC1-9D0D-F5D582B4D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F5A0-A485-4924-B8C4-03A95854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83752-D7CC-4D3F-B011-0FFD1C22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DD13F-6038-481B-893C-25275FDD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33F6B-EA03-411D-96B7-A4D8FC21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E38CE-D9F5-4AD6-A1CE-F593A8802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3FF0-5DA9-4BBA-9F2E-6332A284F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1B757-07D4-4EE2-A5EC-ED1A9E62B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1A42B-EF72-44DD-90BA-9EAE8689F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4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5794" y="2105561"/>
            <a:ext cx="477098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800" dirty="0"/>
              <a:t>KPMG Data Analysis using Excel</a:t>
            </a:r>
          </a:p>
          <a:p>
            <a:endParaRPr sz="2800" b="1" dirty="0">
              <a:solidFill>
                <a:srgbClr val="00336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0200" y="2582614"/>
            <a:ext cx="4519246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17576" y="2948153"/>
            <a:ext cx="59704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lang="en-IN" b="1" dirty="0"/>
              <a:t>Customer Segmentation, Transaction Analysis &amp; CLV Analysis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5B003-1D9E-4CE4-9F6D-8A35CAD6C1D2}"/>
              </a:ext>
            </a:extLst>
          </p:cNvPr>
          <p:cNvSpPr txBox="1"/>
          <p:nvPr/>
        </p:nvSpPr>
        <p:spPr>
          <a:xfrm>
            <a:off x="6752492" y="4951827"/>
            <a:ext cx="187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Submitted by:</a:t>
            </a:r>
            <a:endParaRPr lang="en-GB" dirty="0"/>
          </a:p>
          <a:p>
            <a:r>
              <a:rPr lang="en-GB" dirty="0"/>
              <a:t>BOTTA LOKESH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C94E-5186-4C5E-8E80-E74A41E9B0B1}"/>
              </a:ext>
            </a:extLst>
          </p:cNvPr>
          <p:cNvSpPr txBox="1"/>
          <p:nvPr/>
        </p:nvSpPr>
        <p:spPr>
          <a:xfrm>
            <a:off x="925807" y="4146065"/>
            <a:ext cx="4924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Used:</a:t>
            </a:r>
          </a:p>
          <a:p>
            <a:r>
              <a:rPr lang="en-IN" dirty="0"/>
              <a:t>MS Excel | Pivot Tables | Power Query | Dashboard | Data Visualization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674" y="822960"/>
            <a:ext cx="2539218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7711" y="1575582"/>
            <a:ext cx="746291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Content:</a:t>
            </a:r>
          </a:p>
          <a:p>
            <a:r>
              <a:rPr lang="en-GB" dirty="0"/>
              <a:t>This project focuses on </a:t>
            </a:r>
            <a:r>
              <a:rPr lang="en-GB" dirty="0" err="1"/>
              <a:t>analyzing</a:t>
            </a:r>
            <a:r>
              <a:rPr lang="en-GB" dirty="0"/>
              <a:t> customer demographics, transaction </a:t>
            </a:r>
            <a:r>
              <a:rPr lang="en-GB" dirty="0" err="1"/>
              <a:t>behavior</a:t>
            </a:r>
            <a:r>
              <a:rPr lang="en-GB" dirty="0"/>
              <a:t>, and customer lifetime value using Excel. The analysis helps identify business trends, high-value customers, and opportunities for business growth.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Project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Perform data cleaning and </a:t>
            </a:r>
            <a:r>
              <a:rPr lang="en-GB" dirty="0" err="1"/>
              <a:t>preprocessing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Segment customers based on demographics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sales and transaction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Identify customer purchase </a:t>
            </a:r>
            <a:r>
              <a:rPr lang="en-GB" dirty="0" err="1"/>
              <a:t>behavior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 Customer Lifetime Value (CLV)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business recommendations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Dataset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5051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Content:</a:t>
            </a:r>
          </a:p>
          <a:p>
            <a:r>
              <a:rPr lang="en-IN" dirty="0"/>
              <a:t>The project uses four datasets provided by KPMG to perform analysis and generate insights.</a:t>
            </a:r>
          </a:p>
          <a:p>
            <a:r>
              <a:rPr lang="en-IN" b="1" dirty="0"/>
              <a:t>Datasets Used:</a:t>
            </a:r>
          </a:p>
          <a:p>
            <a:r>
              <a:rPr lang="en-IN" b="1" dirty="0"/>
              <a:t>1. Customer Address Dataset</a:t>
            </a:r>
          </a:p>
          <a:p>
            <a:r>
              <a:rPr lang="en-IN" dirty="0"/>
              <a:t>Contains customer location details and property valuation.</a:t>
            </a:r>
          </a:p>
          <a:p>
            <a:r>
              <a:rPr lang="en-IN" b="1" dirty="0"/>
              <a:t>2. Customer Demographic Dataset</a:t>
            </a:r>
          </a:p>
          <a:p>
            <a:r>
              <a:rPr lang="en-IN" dirty="0"/>
              <a:t>Contains customer personal information, wealth segment, tenure, and industry details.</a:t>
            </a:r>
          </a:p>
          <a:p>
            <a:r>
              <a:rPr lang="en-IN" b="1" dirty="0"/>
              <a:t>3. Transactions Dataset</a:t>
            </a:r>
          </a:p>
          <a:p>
            <a:r>
              <a:rPr lang="en-IN" dirty="0"/>
              <a:t>Contains transaction records, product information, and sales details.</a:t>
            </a:r>
          </a:p>
          <a:p>
            <a:r>
              <a:rPr lang="en-IN" b="1" dirty="0"/>
              <a:t>4. New Customer Dataset</a:t>
            </a:r>
          </a:p>
          <a:p>
            <a:r>
              <a:rPr lang="en-IN" dirty="0"/>
              <a:t>Contains potential customer information and estimated customer value.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Data Cleaning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9827" y="1443841"/>
            <a:ext cx="69353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Data cleaning was performed to improve data quality and ensure accurate analysis.</a:t>
            </a:r>
          </a:p>
          <a:p>
            <a:r>
              <a:rPr lang="en-GB" b="1" dirty="0"/>
              <a:t>Cleaning Activities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Removed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Standardized state names and address formatting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Corrected inconsistent gender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Handled missing and null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Fixed transaction date formats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Cleaned invalid and erroneous entries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Standardized job titles and industry categories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datasets became structured, consistent, and ready for analysis.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Customer Segmentation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8979" y="1371600"/>
            <a:ext cx="48814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Customer segmentation was performed to identify important customer groups based on demographics and purchasing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b="1" dirty="0"/>
              <a:t>Key Analysis Performed:</a:t>
            </a:r>
          </a:p>
          <a:p>
            <a:r>
              <a:rPr lang="en-GB" b="1" dirty="0"/>
              <a:t>Wealth Segment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customer distribution by wealth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Calculated average customer tenure </a:t>
            </a:r>
          </a:p>
          <a:p>
            <a:r>
              <a:rPr lang="en-GB" b="1" dirty="0"/>
              <a:t>Gender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Compared customer count by gender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Analyzed</a:t>
            </a:r>
            <a:r>
              <a:rPr lang="en-GB" dirty="0"/>
              <a:t> average bike-related purchases </a:t>
            </a:r>
          </a:p>
          <a:p>
            <a:r>
              <a:rPr lang="en-GB" b="1" dirty="0"/>
              <a:t>Job Industry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customer distribution across industries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Analyzed</a:t>
            </a:r>
            <a:r>
              <a:rPr lang="en-GB" dirty="0"/>
              <a:t> wealth segment distribution within industries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analysis helped identify high-value customer segments and customer </a:t>
            </a:r>
            <a:r>
              <a:rPr lang="en-GB" dirty="0" err="1"/>
              <a:t>behavior</a:t>
            </a:r>
            <a:r>
              <a:rPr lang="en-GB" dirty="0"/>
              <a:t> patterns.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500466" y="2011680"/>
            <a:ext cx="4572000" cy="3763106"/>
          </a:xfrm>
          <a:prstGeom prst="round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3366"/>
                </a:solidFill>
              </a:defRPr>
            </a:pP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E5EF3ED-684C-4F9E-9306-E11C39E4FD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101503"/>
              </p:ext>
            </p:extLst>
          </p:nvPr>
        </p:nvGraphicFramePr>
        <p:xfrm>
          <a:off x="5500466" y="2119304"/>
          <a:ext cx="4360985" cy="3305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Transaction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371600"/>
            <a:ext cx="42062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Transaction analysis was performed to identify sales trends, product performance, and customer purchasing patterns.</a:t>
            </a:r>
          </a:p>
          <a:p>
            <a:r>
              <a:rPr lang="en-GB" b="1" dirty="0"/>
              <a:t>Analysis Performed:</a:t>
            </a:r>
          </a:p>
          <a:p>
            <a:r>
              <a:rPr lang="en-GB" b="1" dirty="0"/>
              <a:t>Sales Trend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Analyzed</a:t>
            </a:r>
            <a:r>
              <a:rPr lang="en-GB" dirty="0"/>
              <a:t> monthly sales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seasonal sales trends and spikes </a:t>
            </a:r>
          </a:p>
          <a:p>
            <a:r>
              <a:rPr lang="en-GB" b="1" dirty="0"/>
              <a:t>Product Performance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Compared sales across different brands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Evaluated product line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Calculated average list prices </a:t>
            </a:r>
          </a:p>
          <a:p>
            <a:r>
              <a:rPr lang="en-GB" b="1" dirty="0"/>
              <a:t>Customer Purchase </a:t>
            </a:r>
            <a:r>
              <a:rPr lang="en-GB" b="1" dirty="0" err="1"/>
              <a:t>Behavior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top 10 customers based on transaction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Calculated average purchases per customer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analysis provided insights into product demand and customer buying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937760" y="1856935"/>
            <a:ext cx="4360985" cy="4023360"/>
          </a:xfrm>
          <a:prstGeom prst="round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3366"/>
                </a:solidFill>
              </a:defRPr>
            </a:pPr>
            <a:endParaRPr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99FAF25-BEB2-442E-B320-906685FE7C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4019889"/>
              </p:ext>
            </p:extLst>
          </p:nvPr>
        </p:nvGraphicFramePr>
        <p:xfrm>
          <a:off x="4937760" y="2382234"/>
          <a:ext cx="5153025" cy="3334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New Customer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5084" y="1259058"/>
            <a:ext cx="41147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New customer analysis was performed to identify potential customer </a:t>
            </a:r>
            <a:r>
              <a:rPr lang="en-GB" dirty="0" err="1"/>
              <a:t>behavior</a:t>
            </a:r>
            <a:r>
              <a:rPr lang="en-GB" dirty="0"/>
              <a:t> and future revenue opportunities.</a:t>
            </a:r>
          </a:p>
          <a:p>
            <a:r>
              <a:rPr lang="en-GB" b="1" dirty="0"/>
              <a:t>Analysis Performed:</a:t>
            </a:r>
          </a:p>
          <a:p>
            <a:r>
              <a:rPr lang="en-GB" b="1" dirty="0"/>
              <a:t>Customer Demographics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Wealth segment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Industry category analysis </a:t>
            </a:r>
          </a:p>
          <a:p>
            <a:r>
              <a:rPr lang="en-GB" b="1" dirty="0"/>
              <a:t>Location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Customer distribution by state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Property valuation analysis </a:t>
            </a:r>
          </a:p>
          <a:p>
            <a:r>
              <a:rPr lang="en-GB" b="1" dirty="0"/>
              <a:t>Revenue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Estimated potential revenue from new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valuable customer groups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analysis helps the business target profitable customer segments and expansion opportunities.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39883" y="1811216"/>
            <a:ext cx="4656408" cy="3369212"/>
          </a:xfrm>
          <a:prstGeom prst="round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3366"/>
                </a:solidFill>
              </a:defRPr>
            </a:pPr>
            <a:endParaRPr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AB42FE4-154B-44CC-B3B9-B4167E9CC1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2631341"/>
              </p:ext>
            </p:extLst>
          </p:nvPr>
        </p:nvGraphicFramePr>
        <p:xfrm>
          <a:off x="4339883" y="1804182"/>
          <a:ext cx="4867422" cy="3369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Customer Lifetime Value (CLV)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1" y="1350498"/>
            <a:ext cx="58521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Customer Lifetime Value (CLV) analysis was performed to identify the most valuable customers for the business.</a:t>
            </a:r>
          </a:p>
          <a:p>
            <a:r>
              <a:rPr lang="en-GB" b="1" dirty="0"/>
              <a:t>CLV Formula:</a:t>
            </a:r>
          </a:p>
          <a:p>
            <a:r>
              <a:rPr lang="en-GB" dirty="0"/>
              <a:t>CLV = (Average Purchase Value × Purchase Frequency) × Customer Lifespan</a:t>
            </a:r>
          </a:p>
          <a:p>
            <a:r>
              <a:rPr lang="en-GB" b="1" dirty="0"/>
              <a:t>Analysis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Calculated CLV for each customer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Compared CLV across wealth segments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Analyzed</a:t>
            </a:r>
            <a:r>
              <a:rPr lang="en-GB" dirty="0"/>
              <a:t> CLV by demographics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Identified high-value customers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analysis helps improve customer retention and marketing strategies.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0" y="2464237"/>
            <a:ext cx="4487594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3366"/>
                </a:solidFill>
              </a:defRPr>
            </a:pPr>
            <a:endParaRPr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D0DDC41-901C-4F87-9004-5A0976C724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2248505"/>
              </p:ext>
            </p:extLst>
          </p:nvPr>
        </p:nvGraphicFramePr>
        <p:xfrm>
          <a:off x="4663439" y="2863408"/>
          <a:ext cx="4389120" cy="3316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Excel Dashboard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371600"/>
            <a:ext cx="575368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 interactive Excel dashboard was created to visualize business performance and customer insights.</a:t>
            </a:r>
          </a:p>
          <a:p>
            <a:r>
              <a:rPr lang="en-GB" b="1" dirty="0"/>
              <a:t>Dashboard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KPI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Interactive 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Dynamic Slicers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Customer Filters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Sales Trend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Product Performance Tracking </a:t>
            </a:r>
          </a:p>
          <a:p>
            <a:r>
              <a:rPr lang="en-GB" b="1" dirty="0"/>
              <a:t>Key KPIs: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Total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Total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Total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Average CLV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Revenue by Product Line </a:t>
            </a:r>
          </a:p>
          <a:p>
            <a:r>
              <a:rPr lang="en-GB" b="1" dirty="0"/>
              <a:t>Outcome:</a:t>
            </a:r>
          </a:p>
          <a:p>
            <a:r>
              <a:rPr lang="en-GB" dirty="0"/>
              <a:t>The dashboard enables quick and effective business decision-making.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A682DD-75A7-46EC-874C-EF3F5E240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219"/>
            <a:ext cx="9144000" cy="586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6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252"/>
            <a:ext cx="6154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03366"/>
                </a:solidFill>
              </a:rPr>
              <a:t>Key </a:t>
            </a:r>
            <a:r>
              <a:rPr sz="2800" b="1" dirty="0" err="1">
                <a:solidFill>
                  <a:srgbClr val="003366"/>
                </a:solidFill>
              </a:rPr>
              <a:t>Insigh</a:t>
            </a:r>
            <a:r>
              <a:rPr lang="en-IN" sz="2800" b="1" dirty="0" err="1">
                <a:solidFill>
                  <a:srgbClr val="003366"/>
                </a:solidFill>
              </a:rPr>
              <a:t>ts</a:t>
            </a:r>
            <a:endParaRPr sz="2800" b="1" dirty="0">
              <a:solidFill>
                <a:srgbClr val="003366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1" y="1371600"/>
            <a:ext cx="70197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Findings from the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Mass customer segment contributed the highest number of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Customers from NSW generated significant business value.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Standard product line achieved strong sales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 wealth segment customers showed higher CLV.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Monthly sales trends indicated seasonal business growth.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Top customers contributed a major share of total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Interactive dashboards improved data visualization and reporting.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F734-2827-4E0A-B0FD-4D1F0745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rgbClr val="003366"/>
                </a:solidFill>
                <a:latin typeface="+mn-lt"/>
                <a:ea typeface="+mn-ea"/>
                <a:cs typeface="+mn-cs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8485-EA3D-45F1-B699-905425F73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 marketing campaigns on high CLV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Introduce loyalty programs for repeat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Increase promotion for high-performing product lines.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Expand business operations in high-performing states.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 customer retention strategies.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dashboard reporting for better business decisions. </a:t>
            </a:r>
          </a:p>
          <a:p>
            <a:r>
              <a:rPr lang="en-GB" b="1" dirty="0"/>
              <a:t>Expected 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Increased customer retention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Improved sales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Better business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Higher customer satisfaction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39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7194-96DE-4BB5-BF5E-9AD71E38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C2C8-58B1-4B5B-BF11-1C34FEB3E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Challenges Encountered During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Handling missing and inconsistent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Cleaning incorrect gender and state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Managing large datasets in 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Creating dynamic dashboard visualizations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Calculating Customer Lifetime Value accurately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Aligning multiple charts and slicers </a:t>
            </a:r>
          </a:p>
          <a:p>
            <a:r>
              <a:rPr lang="en-GB" b="1" dirty="0"/>
              <a:t>Solution:</a:t>
            </a:r>
          </a:p>
          <a:p>
            <a:r>
              <a:rPr lang="en-GB" dirty="0"/>
              <a:t>Data cleaning and Excel analytical tools were used to overcome these challenges.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236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286-E2D3-49AF-8364-827E65ED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Demonstrated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54EF-6A14-4184-9C54-C52F600C8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8634"/>
            <a:ext cx="6347714" cy="521911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Technical Skills: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MS Excel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Pivot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Power Query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Dashboard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KPI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Cleaning </a:t>
            </a:r>
          </a:p>
          <a:p>
            <a:r>
              <a:rPr lang="en-IN" b="1" dirty="0"/>
              <a:t>Analytical Skills: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Transaction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Business Insights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Problem Solving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Storytelling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84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7549" y="1371600"/>
            <a:ext cx="63514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KPMG Data Analysis project successfully </a:t>
            </a:r>
            <a:r>
              <a:rPr lang="en-GB" dirty="0" err="1"/>
              <a:t>analyzed</a:t>
            </a:r>
            <a:r>
              <a:rPr lang="en-GB" dirty="0"/>
              <a:t> customer demographics, transactions, and customer lifetime value using Excel tools and techniques.</a:t>
            </a:r>
          </a:p>
          <a:p>
            <a:r>
              <a:rPr lang="en-GB" dirty="0"/>
              <a:t>The project helped identify high-value customers, business trends, and opportunities for business growth through effective data analysis and dashboard visualization.</a:t>
            </a:r>
          </a:p>
          <a:p>
            <a:r>
              <a:rPr lang="en-GB" dirty="0"/>
              <a:t>The insights generated from this project can support better business decision-making and marketing strategies.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4D96-7A3D-4005-81B2-6359426C8C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DE73A-1911-4792-BB36-753625E957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616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63</TotalTime>
  <Words>911</Words>
  <Application>Microsoft Office PowerPoint</Application>
  <PresentationFormat>On-screen Show (4:3)</PresentationFormat>
  <Paragraphs>172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Recommendations</vt:lpstr>
      <vt:lpstr>Challenges Faced</vt:lpstr>
      <vt:lpstr>Skills Demonstrated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9</cp:revision>
  <dcterms:created xsi:type="dcterms:W3CDTF">2013-01-27T09:14:16Z</dcterms:created>
  <dcterms:modified xsi:type="dcterms:W3CDTF">2026-05-23T08:02:37Z</dcterms:modified>
  <cp:category/>
</cp:coreProperties>
</file>